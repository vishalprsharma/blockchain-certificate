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93" r:id="rId2"/>
    <p:sldId id="284" r:id="rId3"/>
    <p:sldId id="268" r:id="rId4"/>
    <p:sldId id="285" r:id="rId5"/>
    <p:sldId id="286" r:id="rId6"/>
    <p:sldId id="258" r:id="rId7"/>
    <p:sldId id="264" r:id="rId8"/>
    <p:sldId id="287" r:id="rId9"/>
    <p:sldId id="288" r:id="rId10"/>
    <p:sldId id="291" r:id="rId11"/>
    <p:sldId id="265" r:id="rId12"/>
    <p:sldId id="266" r:id="rId13"/>
    <p:sldId id="290" r:id="rId14"/>
    <p:sldId id="29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AD361-0012-49D7-8EC8-5A6AD362DCD2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A434C-47C4-45DE-9EE0-F89B7E53F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075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AFAC81-DEEC-41A1-B786-5FDE73B8FF0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807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77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87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34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049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57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51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743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209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22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47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33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527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39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893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622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97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57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B2D144-FCDE-4F72-AFB2-117B852C53C3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FC6FA85-DD6A-44D4-9E20-99BB836AB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98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https://abped-college-dashboard.s3.us-east-2.amazonaws.com/tted/college-backend/college/b446a6ef-257c-422d-bb2f-0f09f07634d1.p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6592-720C-C254-2CFF-9C467C4EF96D}"/>
              </a:ext>
            </a:extLst>
          </p:cNvPr>
          <p:cNvSpPr txBox="1">
            <a:spLocks/>
          </p:cNvSpPr>
          <p:nvPr/>
        </p:nvSpPr>
        <p:spPr>
          <a:xfrm>
            <a:off x="2400300" y="2277414"/>
            <a:ext cx="7391400" cy="258588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800" b="1" dirty="0">
                <a:cs typeface="Times New Roman" panose="02020603050405020304" pitchFamily="18" charset="0"/>
              </a:rPr>
              <a:t>CERTIFICATE VALIDATION USING BLOCKCHAIN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DE9BE-AA07-F5DC-88D9-CC1B9CB219CF}"/>
              </a:ext>
            </a:extLst>
          </p:cNvPr>
          <p:cNvSpPr txBox="1"/>
          <p:nvPr/>
        </p:nvSpPr>
        <p:spPr>
          <a:xfrm>
            <a:off x="8131277" y="4688308"/>
            <a:ext cx="350028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Presented By:</a:t>
            </a:r>
            <a:br>
              <a:rPr lang="en-US" sz="2000" dirty="0"/>
            </a:br>
            <a:r>
              <a:rPr lang="en-US" b="1" dirty="0"/>
              <a:t>Vishal Prasad Sharma</a:t>
            </a:r>
            <a:r>
              <a:rPr lang="en-US" dirty="0"/>
              <a:t>(1AH21CS3)</a:t>
            </a:r>
            <a:br>
              <a:rPr lang="en-US" dirty="0"/>
            </a:br>
            <a:r>
              <a:rPr lang="en-US" b="1" dirty="0"/>
              <a:t>Anayat Altaf Shah</a:t>
            </a:r>
            <a:r>
              <a:rPr lang="en-US" dirty="0"/>
              <a:t>(1AH21CS127)</a:t>
            </a:r>
            <a:br>
              <a:rPr lang="en-US" dirty="0"/>
            </a:br>
            <a:r>
              <a:rPr lang="en-US" b="1" dirty="0"/>
              <a:t>Raj Kumar</a:t>
            </a:r>
            <a:r>
              <a:rPr lang="en-US" dirty="0"/>
              <a:t>(1AH21CS081)</a:t>
            </a:r>
          </a:p>
          <a:p>
            <a:r>
              <a:rPr lang="en-US" b="1" dirty="0"/>
              <a:t>Vandan Kumar M</a:t>
            </a:r>
            <a:r>
              <a:rPr lang="en-US" dirty="0"/>
              <a:t>(1AH21CS117)</a:t>
            </a:r>
            <a:endParaRPr lang="en-IN" dirty="0"/>
          </a:p>
        </p:txBody>
      </p:sp>
      <p:pic>
        <p:nvPicPr>
          <p:cNvPr id="4" name="Picture 3" descr="College Logo">
            <a:extLst>
              <a:ext uri="{FF2B5EF4-FFF2-40B4-BE49-F238E27FC236}">
                <a16:creationId xmlns:a16="http://schemas.microsoft.com/office/drawing/2014/main" id="{5121CC27-22C6-AFEF-1661-CB15C12A447B}"/>
              </a:ext>
            </a:extLst>
          </p:cNvPr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023" y="751878"/>
            <a:ext cx="11811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E8E14B-C816-6959-BDB8-1F017F4B3676}"/>
              </a:ext>
            </a:extLst>
          </p:cNvPr>
          <p:cNvSpPr txBox="1"/>
          <p:nvPr/>
        </p:nvSpPr>
        <p:spPr>
          <a:xfrm>
            <a:off x="1014846" y="661587"/>
            <a:ext cx="95247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/>
            <a:r>
              <a:rPr lang="en-US" sz="1800" b="1" kern="0" dirty="0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1200"/>
              </a:spcBef>
            </a:pPr>
            <a:r>
              <a:rPr lang="en-US" sz="18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ACS C</a:t>
            </a:r>
            <a:r>
              <a:rPr lang="en-US" sz="1800" b="1" kern="0" spc="5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8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1800" b="1" kern="0" spc="1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18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EGE</a:t>
            </a:r>
            <a:r>
              <a:rPr lang="en-US" sz="1800" b="1" kern="0" spc="7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0" spc="-2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8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 EN</a:t>
            </a:r>
            <a:r>
              <a:rPr lang="en-US" sz="1800" b="1" kern="0" spc="5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</a:t>
            </a:r>
            <a:r>
              <a:rPr lang="en-US" sz="18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1800" b="1" kern="0" spc="1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8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800" b="1" kern="0" spc="-15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800" b="1" kern="0" spc="15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457200"/>
            <a:r>
              <a:rPr lang="en-US" sz="1800" b="1" kern="0" spc="5" dirty="0">
                <a:solidFill>
                  <a:srgbClr val="98470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                               </a:t>
            </a:r>
            <a:r>
              <a:rPr lang="en-US" sz="1000" b="1" kern="0" spc="5" dirty="0">
                <a:solidFill>
                  <a:srgbClr val="98470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KAMBIPURA, MYSORE ROAD, BANGLORE-74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CD303-357C-CE22-6722-ADA89339D7A9}"/>
              </a:ext>
            </a:extLst>
          </p:cNvPr>
          <p:cNvSpPr txBox="1"/>
          <p:nvPr/>
        </p:nvSpPr>
        <p:spPr>
          <a:xfrm>
            <a:off x="2625213" y="1858488"/>
            <a:ext cx="4208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8</a:t>
            </a:r>
            <a:r>
              <a:rPr lang="en-US" sz="2800" b="1" baseline="30000" dirty="0"/>
              <a:t>th</a:t>
            </a:r>
            <a:r>
              <a:rPr lang="en-US" sz="2800" b="1" dirty="0"/>
              <a:t> Sem Project Review on: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4369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B871-6822-437C-9195-4C4FC5FA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105581"/>
            <a:ext cx="9601196" cy="1303867"/>
          </a:xfrm>
        </p:spPr>
        <p:txBody>
          <a:bodyPr/>
          <a:lstStyle/>
          <a:p>
            <a:r>
              <a:rPr lang="en-US" b="1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A1E16-2B7A-4705-9B65-AF113A4D3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Blockchain technology has recently emerged as a potential mean for authenticating the document verification process and a significant tool to combat document fraud and misuse.</a:t>
            </a:r>
          </a:p>
          <a:p>
            <a:pPr algn="just"/>
            <a:r>
              <a:rPr lang="en-US" dirty="0"/>
              <a:t> This project aimed to enhance the document verification process using blockchain technology.</a:t>
            </a:r>
          </a:p>
          <a:p>
            <a:pPr algn="just"/>
            <a:r>
              <a:rPr lang="en-US" dirty="0"/>
              <a:t>This Project also identifies the gaps and loopholes in the current blockchain based educational certificate verification solutions. </a:t>
            </a:r>
          </a:p>
        </p:txBody>
      </p:sp>
    </p:spTree>
    <p:extLst>
      <p:ext uri="{BB962C8B-B14F-4D97-AF65-F5344CB8AC3E}">
        <p14:creationId xmlns:p14="http://schemas.microsoft.com/office/powerpoint/2010/main" val="187845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2413" y="1015748"/>
            <a:ext cx="7055380" cy="1400530"/>
          </a:xfrm>
        </p:spPr>
        <p:txBody>
          <a:bodyPr>
            <a:normAutofit/>
          </a:bodyPr>
          <a:lstStyle/>
          <a:p>
            <a:pPr algn="just"/>
            <a:r>
              <a:rPr lang="en-GB" b="1" dirty="0"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536" y="2416278"/>
            <a:ext cx="9387612" cy="3866535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cs typeface="Times New Roman" panose="02020603050405020304" pitchFamily="18" charset="0"/>
              </a:rPr>
              <a:t>In the digital world, each and every thing are digitized in which the academic certificate are digitized in the educational institution and provided to the students.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cs typeface="Times New Roman" panose="02020603050405020304" pitchFamily="18" charset="0"/>
              </a:rPr>
              <a:t>The increase in security breaches compromise user’s privacy of academic digital certificate.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cs typeface="Times New Roman" panose="02020603050405020304" pitchFamily="18" charset="0"/>
              </a:rPr>
              <a:t>The institution and organization find it very difficult to validate and verify the digital certificates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cs typeface="Times New Roman" panose="02020603050405020304" pitchFamily="18" charset="0"/>
              </a:rPr>
              <a:t>By using blockchain technology we can provide a more secure and efficient digital certificate validation.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406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72E5-D689-44B4-A36D-C76CED57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242139"/>
            <a:ext cx="9601196" cy="1303867"/>
          </a:xfrm>
        </p:spPr>
        <p:txBody>
          <a:bodyPr/>
          <a:lstStyle/>
          <a:p>
            <a:r>
              <a:rPr lang="en-US" b="1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A4055-286A-4804-9CFE-2DF151BD8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skillfully generated fake certificate is always hard to detect and can be treated as the original. </a:t>
            </a:r>
          </a:p>
          <a:p>
            <a:pPr algn="just"/>
            <a:r>
              <a:rPr lang="en-US" dirty="0"/>
              <a:t>With the increase of forged documents, credibility of both the document holder and the issuing authority is jeopardized.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3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4256" y="1037868"/>
            <a:ext cx="7055380" cy="1400530"/>
          </a:xfrm>
        </p:spPr>
        <p:txBody>
          <a:bodyPr>
            <a:normAutofit/>
          </a:bodyPr>
          <a:lstStyle/>
          <a:p>
            <a:pPr algn="just"/>
            <a:r>
              <a:rPr lang="en-GB" b="1" dirty="0"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4682" y="2438398"/>
            <a:ext cx="9200466" cy="3716596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GB" sz="2400" dirty="0">
                <a:cs typeface="Times New Roman" panose="02020603050405020304" pitchFamily="18" charset="0"/>
              </a:rPr>
              <a:t>A blockchain is a growing list of records called blocks, that are linked  using cryptography.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GB" sz="2400" dirty="0">
                <a:cs typeface="Times New Roman" panose="02020603050405020304" pitchFamily="18" charset="0"/>
              </a:rPr>
              <a:t>Each  block contains a cryptographic hash of the previous block and a timestamp.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GB" sz="2400" dirty="0">
                <a:cs typeface="Times New Roman" panose="02020603050405020304" pitchFamily="18" charset="0"/>
              </a:rPr>
              <a:t>It is resistant to modification of the data</a:t>
            </a:r>
          </a:p>
        </p:txBody>
      </p:sp>
    </p:spTree>
    <p:extLst>
      <p:ext uri="{BB962C8B-B14F-4D97-AF65-F5344CB8AC3E}">
        <p14:creationId xmlns:p14="http://schemas.microsoft.com/office/powerpoint/2010/main" val="3570199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917" y="132735"/>
            <a:ext cx="7055380" cy="1700848"/>
          </a:xfrm>
        </p:spPr>
        <p:txBody>
          <a:bodyPr>
            <a:normAutofit/>
          </a:bodyPr>
          <a:lstStyle/>
          <a:p>
            <a:pPr algn="just"/>
            <a:r>
              <a:rPr lang="en-GB" sz="3600" b="1" dirty="0"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1675212"/>
              </p:ext>
            </p:extLst>
          </p:nvPr>
        </p:nvGraphicFramePr>
        <p:xfrm>
          <a:off x="658760" y="1205435"/>
          <a:ext cx="10766323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7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7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0451">
                <a:tc>
                  <a:txBody>
                    <a:bodyPr/>
                    <a:lstStyle/>
                    <a:p>
                      <a:r>
                        <a:rPr lang="en-GB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1:</a:t>
                      </a:r>
                    </a:p>
                    <a:p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smart contract for digital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Jiin-chiou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etal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.,,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the electronic file and calculate hash value for it.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creates a QR-code </a:t>
                      </a:r>
                    </a:p>
                    <a:p>
                      <a:pPr marL="0" indent="0" algn="just"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 : certificate granting are open and transparent in the system.</a:t>
                      </a:r>
                    </a:p>
                    <a:p>
                      <a:pPr marL="0" marR="0" indent="0" algn="just" defTabSz="45720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r>
                        <a:rPr lang="en-GB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QR-code must be scanned with smartphone and internet connection  is required.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4318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2:</a:t>
                      </a:r>
                      <a:r>
                        <a:rPr lang="en-GB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based certificate transparency and revocation</a:t>
                      </a:r>
                    </a:p>
                    <a:p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Zewang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Jingqiang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 </a:t>
                      </a:r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etal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.,,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Font typeface="Wingdings" panose="05000000000000000000" pitchFamily="2" charset="2"/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 signed certificates and their revocation status information of an SSL/TLS web server are published by the subject and append it to the global  certificate  </a:t>
                      </a:r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.</a:t>
                      </a:r>
                    </a:p>
                    <a:p>
                      <a:pPr algn="just">
                        <a:buFont typeface="Wingdings" panose="05000000000000000000" pitchFamily="2" charset="2"/>
                        <a:buChar char="§"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act as public logs to monitor CAs certificate signing and revocation operations</a:t>
                      </a:r>
                    </a:p>
                    <a:p>
                      <a:pPr algn="just">
                        <a:buFont typeface="Wingdings" panose="05000000000000000000" pitchFamily="2" charset="2"/>
                        <a:buNone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Pros: Avoids the certificate fraudulent</a:t>
                      </a:r>
                    </a:p>
                    <a:p>
                      <a:pPr marL="0" marR="0" indent="0" algn="just" defTabSz="45720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Cons: :  Certificate validation delay and false sense of security</a:t>
                      </a:r>
                    </a:p>
                    <a:p>
                      <a:pPr algn="just">
                        <a:buFont typeface="Wingdings" panose="05000000000000000000" pitchFamily="2" charset="2"/>
                        <a:buNone/>
                      </a:pP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6584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3:</a:t>
                      </a:r>
                    </a:p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Certificate transparency using </a:t>
                      </a:r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Dsv</a:t>
                      </a:r>
                      <a:r>
                        <a:rPr lang="en-GB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madala</a:t>
                      </a:r>
                      <a:r>
                        <a:rPr lang="en-GB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GB" sz="16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etal</a:t>
                      </a:r>
                      <a:r>
                        <a:rPr lang="en-GB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.,,,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Hyperledger</a:t>
                      </a:r>
                      <a:r>
                        <a:rPr lang="en-GB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fabric is used.</a:t>
                      </a:r>
                    </a:p>
                    <a:p>
                      <a:r>
                        <a:rPr lang="en-GB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CTB smart contract.</a:t>
                      </a:r>
                    </a:p>
                    <a:p>
                      <a:r>
                        <a:rPr lang="en-GB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 : </a:t>
                      </a: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logs-consistency </a:t>
                      </a:r>
                    </a:p>
                    <a:p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Cons:</a:t>
                      </a:r>
                      <a:r>
                        <a:rPr lang="en-GB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low scalability and less transaction</a:t>
                      </a:r>
                      <a:endParaRPr lang="en-GB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89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245" y="1134532"/>
            <a:ext cx="9601196" cy="1303867"/>
          </a:xfrm>
        </p:spPr>
        <p:txBody>
          <a:bodyPr>
            <a:normAutofit/>
          </a:bodyPr>
          <a:lstStyle/>
          <a:p>
            <a:pPr algn="just"/>
            <a:r>
              <a:rPr lang="en-GB" b="1" dirty="0"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826" y="2438399"/>
            <a:ext cx="8770374" cy="3510117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GB" sz="2600" dirty="0">
                <a:cs typeface="Times New Roman" panose="02020603050405020304" pitchFamily="18" charset="0"/>
              </a:rPr>
              <a:t>Generate the electronic file of a paper certificate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600" dirty="0">
                <a:cs typeface="Times New Roman" panose="02020603050405020304" pitchFamily="18" charset="0"/>
              </a:rPr>
              <a:t>Used to verify the authenticity of the paper certificate through Hyper ledger Platform. </a:t>
            </a:r>
          </a:p>
          <a:p>
            <a:pPr marL="0" indent="0" algn="just">
              <a:buNone/>
            </a:pPr>
            <a:r>
              <a:rPr lang="en-GB" sz="3300" b="1" dirty="0">
                <a:cs typeface="Times New Roman" panose="02020603050405020304" pitchFamily="18" charset="0"/>
              </a:rPr>
              <a:t>Disadvantages of existing system: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600" dirty="0">
                <a:cs typeface="Times New Roman" panose="02020603050405020304" pitchFamily="18" charset="0"/>
              </a:rPr>
              <a:t>Verification has to be done manually by sending certificate to Academic centre. Which is time consuming.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600" dirty="0">
                <a:cs typeface="Times New Roman" panose="02020603050405020304" pitchFamily="18" charset="0"/>
              </a:rPr>
              <a:t>Hyperledger cannot use public block chain because of privacy and low scalability 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600" dirty="0">
                <a:cs typeface="Times New Roman" panose="02020603050405020304" pitchFamily="18" charset="0"/>
              </a:rPr>
              <a:t>Hyper ledger preferred platform only for B2B business.</a:t>
            </a:r>
          </a:p>
          <a:p>
            <a:pPr marL="0" indent="0" algn="just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58643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743" y="1109950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/>
              <a:t>PROPOSED SYTEM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cs typeface="Times New Roman" panose="02020603050405020304" pitchFamily="18" charset="0"/>
              </a:rPr>
              <a:t>Using blockchain and QR code technology for certificate verification is a secure and efficient way to authenticate documents. 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Here's a high-level overview of how you might implement a blockchain QR code-based certificate verification system: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Create a digital certificate for the recipient, containing relevant information such as the recipient's name, the issuing authority, the date of issuance, and details about the achievement or qualification.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Generate a unique identifier (hash) for the certificate, preferably using cryptographic hashing algorithms such as SHA-512.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281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6181" y="1090288"/>
            <a:ext cx="9601196" cy="1303867"/>
          </a:xfrm>
        </p:spPr>
        <p:txBody>
          <a:bodyPr/>
          <a:lstStyle/>
          <a:p>
            <a:r>
              <a:rPr lang="en-US" b="1" dirty="0"/>
              <a:t>PROPOSED SYTEM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742" y="2035277"/>
            <a:ext cx="9714271" cy="39918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Choose a blockchain platform (e.g., Ethereum, Hyperledger, or a custom solution) for storing certificate data. Ensure that the chosen blockchain supports smart contracts.</a:t>
            </a:r>
          </a:p>
          <a:p>
            <a:pPr lvl="1"/>
            <a:r>
              <a:rPr lang="en-US" dirty="0"/>
              <a:t>Create a smart contract that stores the certificate details along with its unique identifier on the blockchain. The smart contract should include functions for certificate verification.</a:t>
            </a:r>
          </a:p>
          <a:p>
            <a:pPr marL="457200" lvl="1" indent="0">
              <a:buNone/>
            </a:pPr>
            <a:r>
              <a:rPr lang="en-US" sz="2400" b="1" dirty="0"/>
              <a:t>Linking Certificate to QR Code:</a:t>
            </a:r>
            <a:endParaRPr lang="en-US" sz="2400" dirty="0"/>
          </a:p>
          <a:p>
            <a:pPr lvl="1"/>
            <a:r>
              <a:rPr lang="en-US" dirty="0"/>
              <a:t>Generate a QR code containing the unique identifier or a link to the smart contract on the blockchain.</a:t>
            </a:r>
          </a:p>
          <a:p>
            <a:pPr lvl="1"/>
            <a:r>
              <a:rPr lang="en-US" dirty="0"/>
              <a:t>Embed the QR code on the digital or physical certificate.</a:t>
            </a:r>
          </a:p>
        </p:txBody>
      </p:sp>
    </p:spTree>
    <p:extLst>
      <p:ext uri="{BB962C8B-B14F-4D97-AF65-F5344CB8AC3E}">
        <p14:creationId xmlns:p14="http://schemas.microsoft.com/office/powerpoint/2010/main" val="325963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059B-6C05-838B-12A2-0095E5B2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SYTEM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EC3BB-4058-860A-17E0-4A1EBC71E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Recipients or third parties can use a QR code scanner on a mobile device to scan the QR code on the certificate.</a:t>
            </a:r>
          </a:p>
          <a:p>
            <a:r>
              <a:rPr lang="en-US" dirty="0"/>
              <a:t>The scanner retrieves the unique identifier or smart contract link from the QR code.</a:t>
            </a:r>
          </a:p>
          <a:p>
            <a:r>
              <a:rPr lang="en-US" dirty="0"/>
              <a:t>Use the unique identifier to query the blockchain smart contract for the corresponding certificate information.</a:t>
            </a:r>
          </a:p>
          <a:p>
            <a:r>
              <a:rPr lang="en-US" dirty="0"/>
              <a:t>The blockchain verifies the authenticity of the certificate by matching the unique identifier with the stored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08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3343" y="990600"/>
            <a:ext cx="7055380" cy="467032"/>
          </a:xfrm>
        </p:spPr>
        <p:txBody>
          <a:bodyPr>
            <a:normAutofit fontScale="90000"/>
          </a:bodyPr>
          <a:lstStyle/>
          <a:p>
            <a:r>
              <a:rPr lang="en-GB" sz="2800" b="1" dirty="0"/>
              <a:t>PROPOSED SYSTEM ARCHITECTURE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859" y="1524000"/>
            <a:ext cx="9851922" cy="434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7103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6684" y="1154198"/>
            <a:ext cx="9601196" cy="1303867"/>
          </a:xfrm>
        </p:spPr>
        <p:txBody>
          <a:bodyPr>
            <a:normAutofit fontScale="90000"/>
          </a:bodyPr>
          <a:lstStyle/>
          <a:p>
            <a:pPr algn="just"/>
            <a:r>
              <a:rPr lang="en-GB" b="1" dirty="0">
                <a:cs typeface="Times New Roman" panose="02020603050405020304" pitchFamily="18" charset="0"/>
              </a:rPr>
              <a:t>ADVANTAGES OF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6684" y="2458065"/>
            <a:ext cx="9458632" cy="394273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cs typeface="Times New Roman" panose="02020603050405020304" pitchFamily="18" charset="0"/>
              </a:rPr>
              <a:t>By using the unmodifiable property of </a:t>
            </a:r>
            <a:r>
              <a:rPr lang="en-GB" sz="2400" dirty="0" err="1">
                <a:cs typeface="Times New Roman" panose="02020603050405020304" pitchFamily="18" charset="0"/>
              </a:rPr>
              <a:t>blockchain</a:t>
            </a:r>
            <a:r>
              <a:rPr lang="en-GB" sz="2400" dirty="0">
                <a:cs typeface="Times New Roman" panose="02020603050405020304" pitchFamily="18" charset="0"/>
              </a:rPr>
              <a:t> provide more security.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cs typeface="Times New Roman" panose="02020603050405020304" pitchFamily="18" charset="0"/>
              </a:rPr>
              <a:t>Confidentiality is transparent with each transaction visible to all the peers.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cs typeface="Times New Roman" panose="02020603050405020304" pitchFamily="18" charset="0"/>
              </a:rPr>
              <a:t>Run an application in offline mode.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cs typeface="Times New Roman" panose="02020603050405020304" pitchFamily="18" charset="0"/>
              </a:rPr>
              <a:t>Certificate is validated rapidly.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dirty="0">
                <a:cs typeface="Times New Roman" panose="02020603050405020304" pitchFamily="18" charset="0"/>
              </a:rPr>
              <a:t>Provide accurate and reliable information</a:t>
            </a:r>
          </a:p>
          <a:p>
            <a:pPr marL="0" indent="0" algn="just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70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8C736-31DA-FE55-1E88-2B8605FE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943" y="1100119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FUTURE OF THIS PROJECT</a:t>
            </a:r>
            <a:endParaRPr lang="en-IN" b="1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1167-4BA2-200C-A011-2848B6B6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03986"/>
            <a:ext cx="9601196" cy="3471882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cs typeface="Times New Roman" panose="02020603050405020304" pitchFamily="18" charset="0"/>
              </a:rPr>
              <a:t>Web and Mobile Integration: </a:t>
            </a:r>
            <a:r>
              <a:rPr lang="en-US" sz="2000" dirty="0">
                <a:cs typeface="Times New Roman" panose="02020603050405020304" pitchFamily="18" charset="0"/>
              </a:rPr>
              <a:t>Extend the desktop application to web and mobile platforms for greater accessibility and convenience.</a:t>
            </a:r>
          </a:p>
          <a:p>
            <a:pPr algn="just"/>
            <a:r>
              <a:rPr lang="en-US" sz="2000" b="1" dirty="0">
                <a:cs typeface="Times New Roman" panose="02020603050405020304" pitchFamily="18" charset="0"/>
              </a:rPr>
              <a:t>Advanced Security Features: </a:t>
            </a:r>
            <a:r>
              <a:rPr lang="en-US" sz="2000" dirty="0">
                <a:cs typeface="Times New Roman" panose="02020603050405020304" pitchFamily="18" charset="0"/>
              </a:rPr>
              <a:t>Implement encryption and multi-factor authentication for enhanced data protection.</a:t>
            </a:r>
          </a:p>
          <a:p>
            <a:pPr algn="just"/>
            <a:r>
              <a:rPr lang="en-US" sz="2000" b="1" dirty="0">
                <a:cs typeface="Times New Roman" panose="02020603050405020304" pitchFamily="18" charset="0"/>
              </a:rPr>
              <a:t>Decentralized Identity Management: </a:t>
            </a:r>
            <a:r>
              <a:rPr lang="en-US" sz="2000" dirty="0">
                <a:cs typeface="Times New Roman" panose="02020603050405020304" pitchFamily="18" charset="0"/>
              </a:rPr>
              <a:t>Allow users to manage their digital identities on the blockchain alongside certificates. </a:t>
            </a:r>
          </a:p>
          <a:p>
            <a:pPr algn="just"/>
            <a:r>
              <a:rPr lang="en-US" sz="2000" b="1" dirty="0">
                <a:cs typeface="Times New Roman" panose="02020603050405020304" pitchFamily="18" charset="0"/>
              </a:rPr>
              <a:t>Scalability Enhancements: </a:t>
            </a:r>
            <a:r>
              <a:rPr lang="en-US" sz="2000" dirty="0">
                <a:cs typeface="Times New Roman" panose="02020603050405020304" pitchFamily="18" charset="0"/>
              </a:rPr>
              <a:t>Optimize performance for handling larger datasets and multiple institutions.</a:t>
            </a:r>
          </a:p>
          <a:p>
            <a:pPr algn="just"/>
            <a:r>
              <a:rPr lang="en-US" sz="2000" b="1" dirty="0">
                <a:cs typeface="Times New Roman" panose="02020603050405020304" pitchFamily="18" charset="0"/>
              </a:rPr>
              <a:t>Real-Time Notifications: </a:t>
            </a:r>
            <a:r>
              <a:rPr lang="en-US" sz="2000" dirty="0">
                <a:cs typeface="Times New Roman" panose="02020603050405020304" pitchFamily="18" charset="0"/>
              </a:rPr>
              <a:t>Notify users instantly about certificate updates, revocations, or verifications.</a:t>
            </a:r>
            <a:endParaRPr lang="en-IN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705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8BDBC0-7AAA-452D-789A-65E5E242ED15}"/>
              </a:ext>
            </a:extLst>
          </p:cNvPr>
          <p:cNvSpPr txBox="1"/>
          <p:nvPr/>
        </p:nvSpPr>
        <p:spPr>
          <a:xfrm>
            <a:off x="3519948" y="2556388"/>
            <a:ext cx="77674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accent2"/>
                </a:solidFill>
              </a:rPr>
              <a:t>Thank You</a:t>
            </a:r>
            <a:endParaRPr lang="en-IN" sz="8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7103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971</TotalTime>
  <Words>904</Words>
  <Application>Microsoft Office PowerPoint</Application>
  <PresentationFormat>Widescreen</PresentationFormat>
  <Paragraphs>93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Garamond</vt:lpstr>
      <vt:lpstr>Times New Roman</vt:lpstr>
      <vt:lpstr>Wingdings</vt:lpstr>
      <vt:lpstr>Organic</vt:lpstr>
      <vt:lpstr>PowerPoint Presentation</vt:lpstr>
      <vt:lpstr>OBJECTIVE</vt:lpstr>
      <vt:lpstr>ABSTRACT</vt:lpstr>
      <vt:lpstr>PROBLEM DEFINITION</vt:lpstr>
      <vt:lpstr>OVERVIEW</vt:lpstr>
      <vt:lpstr>LITERATURE SURVEY</vt:lpstr>
      <vt:lpstr>Existing System</vt:lpstr>
      <vt:lpstr>PROPOSED SYTEM</vt:lpstr>
      <vt:lpstr>PROPOSED SYTEM</vt:lpstr>
      <vt:lpstr>PROPOSED SYTEM</vt:lpstr>
      <vt:lpstr>PROPOSED SYSTEM ARCHITECTURE</vt:lpstr>
      <vt:lpstr>ADVANTAGES OF PROPOSED SYSTEM</vt:lpstr>
      <vt:lpstr>FUTURE OF THIS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Sharma</dc:creator>
  <cp:lastModifiedBy>Vishal Sharma</cp:lastModifiedBy>
  <cp:revision>17</cp:revision>
  <dcterms:created xsi:type="dcterms:W3CDTF">2025-03-05T12:18:08Z</dcterms:created>
  <dcterms:modified xsi:type="dcterms:W3CDTF">2025-03-08T07:51:48Z</dcterms:modified>
</cp:coreProperties>
</file>